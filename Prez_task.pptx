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12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Вопрос залу: кто уже решал задачи на скорость или участвовал в олимпиаде? Расскажите, что сегодня будет четыре коротких блока: что это, как устроены соревнования, где нужны такие навыки и как это связано с защитой информации.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Объясните: это не про скорость печати, а про скорость мышления. Пять дисциплин: алгоритмическая (классика), продуктовая (создать продукт за ограниченное время), беспилотные авиационные системы, робототехника и системы информационной безопасности. Вид спорта внесён во Всероссийский реестр 12 апреля 2022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путь Всероссийской олимпиады школьников по информатике. Первый этап открыт всем, дальше идёт отбор. Победители и призёры заключительного этапа получают льготы при поступлении на профильные специальности. Сборную России на международной олимпиаде IOI представляют четыре школьника.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Программирование нужно не только в IT. Приведите по примеру на каждый блок: навигация и игры; платежи и банковские приложения; управление роботами и дронами; защита информации. Подчеркните, что навык разложить задачу на шаги пригодится в любой профессии.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Подчеркните, что безопасность страны тоже держится на программистах. ФСТЭК занимается технической защитой информации, ФСБ отвечает за защиту государственной тайны и криптографию. Свяжите со стендом: шифр Цезаря, XOR и перебор ключей — это упрощённые версии реальных задач. С 2025/26 учебного года во Всероссийской олимпиаде по информатике есть профиль «Информационная безопасность».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1" cy="502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7"/>
            <a:ext cx="10566400" cy="4424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1" cy="502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7"/>
            <a:ext cx="10566400" cy="4424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15037"/>
            <a:ext cx="10883393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Спортивное программирование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411974"/>
            <a:ext cx="10883393" cy="45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C9D3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это, зачем нужно и где пригодится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3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это такое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98"/>
            <a:ext cx="10883393" cy="751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Соревнование, где нужно быстро придумать алгоритм и написать программу, которая работает правильно.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5975" y="2654867"/>
            <a:ext cx="1987182" cy="736033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  <p:txBody>
          <a:bodyPr wrap="square" lIns="125840" tIns="125840" rIns="75040" bIns="12584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Алгоритмическое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61907" y="2654867"/>
            <a:ext cx="1987210" cy="736033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  <p:txBody>
          <a:bodyPr wrap="square" lIns="125840" tIns="125840" rIns="75040" bIns="12584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Продуктовое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07867" y="2654867"/>
            <a:ext cx="1987182" cy="736033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  <p:txBody>
          <a:bodyPr wrap="square" lIns="125840" tIns="125840" rIns="75040" bIns="10044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Беспилотные системы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53798" y="2654867"/>
            <a:ext cx="1987182" cy="736033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  <p:txBody>
          <a:bodyPr wrap="square" lIns="125840" tIns="125840" rIns="75041" bIns="12584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Робототехника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96554" y="2651692"/>
            <a:ext cx="1982646" cy="742383"/>
          </a:xfrm>
          <a:prstGeom prst="roundRect">
            <a:avLst>
              <a:gd name="adj" fmla="val 13686"/>
            </a:avLst>
          </a:prstGeom>
          <a:solidFill>
            <a:srgbClr val="10243A"/>
          </a:solidFill>
          <a:ln/>
        </p:spPr>
        <p:txBody>
          <a:bodyPr wrap="square" lIns="122642" tIns="122642" rIns="71842" bIns="108128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Информационная безопасность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52"/>
            <a:ext cx="642689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Пять дисциплин. С апреля 2022 года — официальный вид спорта в России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3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Путь школьника: от класса до IOI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298"/>
            <a:ext cx="1991349" cy="1445192"/>
          </a:xfrm>
          <a:prstGeom prst="roundRect">
            <a:avLst>
              <a:gd name="adj" fmla="val 7030"/>
            </a:avLst>
          </a:prstGeom>
          <a:solidFill>
            <a:srgbClr val="1B3A58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1874498"/>
            <a:ext cx="1737349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Школьный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5200" y="2219920"/>
            <a:ext cx="1737349" cy="71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5–11 классы, участвует любой желающий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56549" y="1671298"/>
            <a:ext cx="1991377" cy="1445192"/>
          </a:xfrm>
          <a:prstGeom prst="roundRect">
            <a:avLst>
              <a:gd name="adj" fmla="val 7030"/>
            </a:avLst>
          </a:prstGeom>
          <a:solidFill>
            <a:srgbClr val="1B3A5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030370" y="1835135"/>
            <a:ext cx="1991377" cy="513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Муниципальный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08949" y="2189361"/>
            <a:ext cx="1737377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7–11 классы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00326" y="1671298"/>
            <a:ext cx="1991349" cy="1445192"/>
          </a:xfrm>
          <a:prstGeom prst="roundRect">
            <a:avLst>
              <a:gd name="adj" fmla="val 7030"/>
            </a:avLst>
          </a:prstGeom>
          <a:solidFill>
            <a:srgbClr val="1B3A58"/>
          </a:solidFill>
          <a:ln/>
        </p:spPr>
      </p:sp>
      <p:sp>
        <p:nvSpPr>
          <p:cNvPr id="10" name="Text 8"/>
          <p:cNvSpPr/>
          <p:nvPr/>
        </p:nvSpPr>
        <p:spPr>
          <a:xfrm>
            <a:off x="5252726" y="1874498"/>
            <a:ext cx="1737349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Региональный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2726" y="2219920"/>
            <a:ext cx="1737349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9–11 классы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44075" y="1671298"/>
            <a:ext cx="1991377" cy="1445192"/>
          </a:xfrm>
          <a:prstGeom prst="roundRect">
            <a:avLst>
              <a:gd name="adj" fmla="val 7030"/>
            </a:avLst>
          </a:prstGeom>
          <a:solidFill>
            <a:srgbClr val="1B3A58"/>
          </a:solidFill>
          <a:ln/>
        </p:spPr>
      </p:sp>
      <p:sp>
        <p:nvSpPr>
          <p:cNvPr id="13" name="Text 11"/>
          <p:cNvSpPr/>
          <p:nvPr/>
        </p:nvSpPr>
        <p:spPr>
          <a:xfrm>
            <a:off x="7396475" y="1874498"/>
            <a:ext cx="1737377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Финал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96475" y="2219920"/>
            <a:ext cx="1737377" cy="71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Лучшие со всей страны, сотни участников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87852" y="1671298"/>
            <a:ext cx="1991349" cy="1445192"/>
          </a:xfrm>
          <a:prstGeom prst="roundRect">
            <a:avLst>
              <a:gd name="adj" fmla="val 7030"/>
            </a:avLst>
          </a:prstGeom>
          <a:solidFill>
            <a:srgbClr val="F08A3C"/>
          </a:solidFill>
          <a:ln/>
        </p:spPr>
      </p:sp>
      <p:sp>
        <p:nvSpPr>
          <p:cNvPr id="16" name="Text 14"/>
          <p:cNvSpPr/>
          <p:nvPr/>
        </p:nvSpPr>
        <p:spPr>
          <a:xfrm>
            <a:off x="9540252" y="1874498"/>
            <a:ext cx="1737349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IOI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40252" y="2219920"/>
            <a:ext cx="1737349" cy="48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Сборная России — 4 человека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3472090"/>
            <a:ext cx="10883393" cy="1714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ru-RU" sz="1800" dirty="0">
                <a:solidFill>
                  <a:srgbClr val="C9D3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Существуют такие соревнования как </a:t>
            </a:r>
            <a:r>
              <a:rPr lang="en-US" sz="1800" dirty="0">
                <a:solidFill>
                  <a:srgbClr val="C9D3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CTF (Capture-The-Flag) </a:t>
            </a:r>
            <a:endParaRPr lang="ru-RU" sz="1800" dirty="0">
              <a:solidFill>
                <a:srgbClr val="C9D3DD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l">
              <a:lnSpc>
                <a:spcPts val="2340"/>
              </a:lnSpc>
              <a:buNone/>
            </a:pPr>
            <a:endParaRPr lang="ru-RU" dirty="0">
              <a:solidFill>
                <a:srgbClr val="C9D3DD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l">
              <a:lnSpc>
                <a:spcPts val="2340"/>
              </a:lnSpc>
              <a:buNone/>
            </a:pPr>
            <a:r>
              <a:rPr lang="en-US" sz="1800" dirty="0" err="1">
                <a:solidFill>
                  <a:srgbClr val="C9D3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Победители</a:t>
            </a:r>
            <a:r>
              <a:rPr lang="en-US" sz="1800" dirty="0">
                <a:solidFill>
                  <a:srgbClr val="C9D3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и призёры финала получают льготы при поступлении в вузы.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52"/>
            <a:ext cx="642651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ВсОШ по информатике; IOI — Международная олимпиада по информатике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7">
            <a:extLst>
              <a:ext uri="{FF2B5EF4-FFF2-40B4-BE49-F238E27FC236}">
                <a16:creationId xmlns:a16="http://schemas.microsoft.com/office/drawing/2014/main" id="{86D27F3D-3A3F-483D-A42A-ACCD5F69007D}"/>
              </a:ext>
            </a:extLst>
          </p:cNvPr>
          <p:cNvSpPr/>
          <p:nvPr/>
        </p:nvSpPr>
        <p:spPr>
          <a:xfrm>
            <a:off x="8890250" y="1699873"/>
            <a:ext cx="2523672" cy="1480202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3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Где нужны такие навыки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71"/>
            <a:ext cx="2523672" cy="1480202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043" y="1879940"/>
            <a:ext cx="2228442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IT-компании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6043" y="2255838"/>
            <a:ext cx="2228442" cy="48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B4A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Поиск, карты, игры, мобильные приложения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98397" y="1674471"/>
            <a:ext cx="2523672" cy="1480202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8465" y="1879940"/>
            <a:ext cx="2228442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Финансы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78465" y="2255838"/>
            <a:ext cx="2228442" cy="48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B4A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Банки, платежи, биржевая аналитика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0818" y="1674471"/>
            <a:ext cx="2523672" cy="1480202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360886" y="1879940"/>
            <a:ext cx="2228442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Техника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60886" y="2255838"/>
            <a:ext cx="2228442" cy="71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B4A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Роботы, беспилотники, искусственный интеллект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37865" y="1874496"/>
            <a:ext cx="2228442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37865" y="2250394"/>
            <a:ext cx="2228442" cy="71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Защита данных и систем, в том числе государственных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3513449"/>
            <a:ext cx="10883393" cy="32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3B4A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Везде, где нужно решать сложные задачи быстро и точно.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1009903" y="812800"/>
            <a:ext cx="10883393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Государство и защита информации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66800" y="1925300"/>
            <a:ext cx="4813808" cy="391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ФСТЭК России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6800" y="2418048"/>
            <a:ext cx="4813808" cy="57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Техническая защита информации и безопасность информационных систем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51600" y="1925300"/>
            <a:ext cx="4813808" cy="391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ФСБ России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51600" y="2418048"/>
            <a:ext cx="4813808" cy="57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4EF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Защита государственной тайны, криптография, кибербезопасность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576241"/>
            <a:ext cx="10883393" cy="61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C9D3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Шифры, перебор и анализ кода — азы этой работы. Начать можно с олимпиады по профилю «Информационная безопасность».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935D0D-CD18-4BEF-AD2E-37F0E6819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18" y="666966"/>
            <a:ext cx="5026903" cy="521246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6A0F67-BA8A-4424-AED0-E8B812B9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181" y="666965"/>
            <a:ext cx="5026903" cy="521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42644"/>
      </p:ext>
    </p:extLst>
  </p:cSld>
  <p:clrMapOvr>
    <a:masterClrMapping/>
  </p:clrMapOvr>
</p:sld>
</file>

<file path=ppt/theme/theme1.xml><?xml version="1.0" encoding="utf-8"?>
<a:theme xmlns:a="http://schemas.openxmlformats.org/drawingml/2006/main" name="Спортивное программирование">
  <a:themeElements>
    <a:clrScheme name="Спортивное программирование">
      <a:dk1>
        <a:srgbClr val="10243A"/>
      </a:dk1>
      <a:lt1>
        <a:srgbClr val="F4EFE6"/>
      </a:lt1>
      <a:dk2>
        <a:srgbClr val="27384B"/>
      </a:dk2>
      <a:lt2>
        <a:srgbClr val="BBBCBB"/>
      </a:lt2>
      <a:accent1>
        <a:srgbClr val="F08A3C"/>
      </a:accent1>
      <a:accent2>
        <a:srgbClr val="1B3A58"/>
      </a:accent2>
      <a:accent3>
        <a:srgbClr val="3B4A58"/>
      </a:accent3>
      <a:accent4>
        <a:srgbClr val="C9D3DD"/>
      </a:accent4>
      <a:accent5>
        <a:srgbClr val="4A5866"/>
      </a:accent5>
      <a:accent6>
        <a:srgbClr val="9FB0C0"/>
      </a:accent6>
      <a:hlink>
        <a:srgbClr val="0563C1"/>
      </a:hlink>
      <a:folHlink>
        <a:srgbClr val="954F72"/>
      </a:folHlink>
    </a:clrScheme>
    <a:fontScheme name="Спортивное программирование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452</Words>
  <Application>Microsoft Office PowerPoint</Application>
  <PresentationFormat>Широкоэкранный</PresentationFormat>
  <Paragraphs>51</Paragraphs>
  <Slides>6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Спортивное программирование</vt:lpstr>
      <vt:lpstr>Спортивное программирование</vt:lpstr>
      <vt:lpstr>Что это такое</vt:lpstr>
      <vt:lpstr>Путь школьника: от класса до IOI</vt:lpstr>
      <vt:lpstr>Где нужны такие навыки</vt:lpstr>
      <vt:lpstr>Государство и защита информации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Спортивное программирование</dc:title>
  <dc:subject/>
  <dc:creator>Anton</dc:creator>
  <cp:lastModifiedBy>Anton Poznyakov</cp:lastModifiedBy>
  <cp:revision>2</cp:revision>
  <dcterms:created xsi:type="dcterms:W3CDTF">2026-10-04T11:26:24Z</dcterms:created>
  <dcterms:modified xsi:type="dcterms:W3CDTF">2026-10-04T14:01:46Z</dcterms:modified>
</cp:coreProperties>
</file>